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A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1828800"/>
            <a:ext cx="10058400" cy="274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800" b="1">
                <a:solidFill>
                  <a:srgbClr val="FFFFFF"/>
                </a:solidFill>
              </a:defRPr>
            </a:pPr>
            <a:r>
              <a:t>FERRAMENTAS DE GERENCIAMENTO DO TEMPO</a:t>
            </a:r>
          </a:p>
          <a:p>
            <a:pPr>
              <a:spcBef>
                <a:spcPts val="1600"/>
              </a:spcBef>
              <a:defRPr sz="1800">
                <a:solidFill>
                  <a:srgbClr val="00D4AA"/>
                </a:solidFill>
              </a:defRPr>
            </a:pPr>
            <a:r>
              <a:t>EAP | Diagrama de Precedências | Caminho Crítico | Gráfico de Gantt</a:t>
            </a:r>
          </a:p>
          <a:p>
            <a:pPr>
              <a:spcBef>
                <a:spcPts val="3000"/>
              </a:spcBef>
            </a:pPr>
          </a:p>
          <a:p>
            <a:pPr>
              <a:defRPr sz="1600">
                <a:solidFill>
                  <a:srgbClr val="FFC107"/>
                </a:solidFill>
              </a:defRPr>
            </a:pPr>
            <a:r>
              <a:t>Projeto: Sentinel IDS</a:t>
            </a:r>
          </a:p>
          <a:p>
            <a:pPr>
              <a:spcBef>
                <a:spcPts val="800"/>
              </a:spcBef>
              <a:defRPr sz="1400">
                <a:solidFill>
                  <a:srgbClr val="CCCCCC"/>
                </a:solidFill>
              </a:defRPr>
            </a:pPr>
            <a:r>
              <a:t>Cristian Shaka Nken (GP) | Jess Saito Forster (Líder Técnico)</a:t>
            </a:r>
          </a:p>
          <a:p>
            <a:pPr>
              <a:defRPr sz="1400">
                <a:solidFill>
                  <a:srgbClr val="CCCCCC"/>
                </a:solidFill>
              </a:defRPr>
            </a:pPr>
            <a:r>
              <a:t>Gerência de Projetos em TI — CEUB — Prof. Roberto Paldês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A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400" b="1">
                <a:solidFill>
                  <a:srgbClr val="FFFFFF"/>
                </a:solidFill>
              </a:defRPr>
            </a:pPr>
            <a:r>
              <a:t>Estrutura Analítica do Projeto (EAP)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868680"/>
            <a:ext cx="2743200" cy="50800"/>
          </a:xfrm>
          <a:prstGeom prst="rect">
            <a:avLst/>
          </a:prstGeom>
          <a:solidFill>
            <a:srgbClr val="009B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EAP_ESTRUTURA_ANALITIC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097280"/>
            <a:ext cx="11612880" cy="595532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A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400" b="1">
                <a:solidFill>
                  <a:srgbClr val="FFFFFF"/>
                </a:solidFill>
              </a:defRPr>
            </a:pPr>
            <a:r>
              <a:t>EAP — Pacotes de Trabalho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868680"/>
            <a:ext cx="2743200" cy="50800"/>
          </a:xfrm>
          <a:prstGeom prst="rect">
            <a:avLst/>
          </a:prstGeom>
          <a:solidFill>
            <a:srgbClr val="009B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274320" y="1371600"/>
            <a:ext cx="2194560" cy="5029200"/>
          </a:xfrm>
          <a:prstGeom prst="roundRect">
            <a:avLst/>
          </a:prstGeom>
          <a:solidFill>
            <a:srgbClr val="050D1A"/>
          </a:solidFill>
          <a:ln w="12700">
            <a:solidFill>
              <a:srgbClr val="009B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90500" lIns="127000"/>
          <a:lstStyle/>
          <a:p>
            <a:pPr algn="ctr">
              <a:defRPr sz="1200" b="1">
                <a:solidFill>
                  <a:srgbClr val="FFC107"/>
                </a:solidFill>
              </a:defRPr>
            </a:pPr>
            <a:r>
              <a:t>1. INICIAÇÃO</a:t>
            </a:r>
          </a:p>
          <a:p>
            <a:pPr>
              <a:spcBef>
                <a:spcPts val="800"/>
              </a:spcBef>
              <a:defRPr sz="1000">
                <a:solidFill>
                  <a:srgbClr val="FFFFFF"/>
                </a:solidFill>
              </a:defRPr>
            </a:pPr>
            <a:r>
              <a:t>▸ Definição de Escopo</a:t>
            </a:r>
          </a:p>
          <a:p>
            <a:pPr>
              <a:spcBef>
                <a:spcPts val="800"/>
              </a:spcBef>
              <a:defRPr sz="1000">
                <a:solidFill>
                  <a:srgbClr val="FFFFFF"/>
                </a:solidFill>
              </a:defRPr>
            </a:pPr>
            <a:r>
              <a:t>▸ Visão Geral 5W2H</a:t>
            </a:r>
          </a:p>
          <a:p>
            <a:pPr>
              <a:spcBef>
                <a:spcPts val="800"/>
              </a:spcBef>
              <a:defRPr sz="1000">
                <a:solidFill>
                  <a:srgbClr val="FFFFFF"/>
                </a:solidFill>
              </a:defRPr>
            </a:pPr>
            <a:r>
              <a:t>▸ Termo de Abertura</a:t>
            </a:r>
          </a:p>
          <a:p>
            <a:pPr>
              <a:spcBef>
                <a:spcPts val="800"/>
              </a:spcBef>
              <a:defRPr sz="1000">
                <a:solidFill>
                  <a:srgbClr val="FFFFFF"/>
                </a:solidFill>
              </a:defRPr>
            </a:pPr>
            <a:r>
              <a:t>▸ Stakeholders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651760" y="1371600"/>
            <a:ext cx="2194560" cy="5029200"/>
          </a:xfrm>
          <a:prstGeom prst="roundRect">
            <a:avLst/>
          </a:prstGeom>
          <a:solidFill>
            <a:srgbClr val="050D1A"/>
          </a:solidFill>
          <a:ln w="12700">
            <a:solidFill>
              <a:srgbClr val="009B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90500" lIns="127000"/>
          <a:lstStyle/>
          <a:p>
            <a:pPr algn="ctr">
              <a:defRPr sz="1200" b="1">
                <a:solidFill>
                  <a:srgbClr val="FFC107"/>
                </a:solidFill>
              </a:defRPr>
            </a:pPr>
            <a:r>
              <a:t>2. PLANEJAMENTO</a:t>
            </a:r>
          </a:p>
          <a:p>
            <a:pPr>
              <a:spcBef>
                <a:spcPts val="800"/>
              </a:spcBef>
              <a:defRPr sz="1000">
                <a:solidFill>
                  <a:srgbClr val="FFFFFF"/>
                </a:solidFill>
              </a:defRPr>
            </a:pPr>
            <a:r>
              <a:t>▸ EAP + Cronograma</a:t>
            </a:r>
          </a:p>
          <a:p>
            <a:pPr>
              <a:spcBef>
                <a:spcPts val="800"/>
              </a:spcBef>
              <a:defRPr sz="1000">
                <a:solidFill>
                  <a:srgbClr val="FFFFFF"/>
                </a:solidFill>
              </a:defRPr>
            </a:pPr>
            <a:r>
              <a:t>▸ Plano de Riscos</a:t>
            </a:r>
          </a:p>
          <a:p>
            <a:pPr>
              <a:spcBef>
                <a:spcPts val="800"/>
              </a:spcBef>
              <a:defRPr sz="1000">
                <a:solidFill>
                  <a:srgbClr val="FFFFFF"/>
                </a:solidFill>
              </a:defRPr>
            </a:pPr>
            <a:r>
              <a:t>▸ EAR + Recursos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0" y="1371600"/>
            <a:ext cx="2194560" cy="5029200"/>
          </a:xfrm>
          <a:prstGeom prst="roundRect">
            <a:avLst/>
          </a:prstGeom>
          <a:solidFill>
            <a:srgbClr val="050D1A"/>
          </a:solidFill>
          <a:ln w="12700">
            <a:solidFill>
              <a:srgbClr val="009B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90500" lIns="127000"/>
          <a:lstStyle/>
          <a:p>
            <a:pPr algn="ctr">
              <a:defRPr sz="1200" b="1">
                <a:solidFill>
                  <a:srgbClr val="FFC107"/>
                </a:solidFill>
              </a:defRPr>
            </a:pPr>
            <a:r>
              <a:t>3. EXECUÇÃO</a:t>
            </a:r>
          </a:p>
          <a:p>
            <a:pPr>
              <a:spcBef>
                <a:spcPts val="800"/>
              </a:spcBef>
              <a:defRPr sz="1000">
                <a:solidFill>
                  <a:srgbClr val="FFFFFF"/>
                </a:solidFill>
              </a:defRPr>
            </a:pPr>
            <a:r>
              <a:t>▸ Core NIDS (4 pacotes)</a:t>
            </a:r>
          </a:p>
          <a:p>
            <a:pPr>
              <a:spcBef>
                <a:spcPts val="800"/>
              </a:spcBef>
              <a:defRPr sz="1000">
                <a:solidFill>
                  <a:srgbClr val="FFFFFF"/>
                </a:solidFill>
              </a:defRPr>
            </a:pPr>
            <a:r>
              <a:t>▸ Agentes HIDS (3 pacotes)</a:t>
            </a:r>
          </a:p>
          <a:p>
            <a:pPr>
              <a:spcBef>
                <a:spcPts val="800"/>
              </a:spcBef>
              <a:defRPr sz="1000">
                <a:solidFill>
                  <a:srgbClr val="FFFFFF"/>
                </a:solidFill>
              </a:defRPr>
            </a:pPr>
            <a:r>
              <a:t>▸ Backend API (3 pacotes)</a:t>
            </a:r>
          </a:p>
          <a:p>
            <a:pPr>
              <a:spcBef>
                <a:spcPts val="800"/>
              </a:spcBef>
              <a:defRPr sz="1000">
                <a:solidFill>
                  <a:srgbClr val="FFFFFF"/>
                </a:solidFill>
              </a:defRPr>
            </a:pPr>
            <a:r>
              <a:t>▸ Infraestrutura (3 pacotes)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406640" y="1371600"/>
            <a:ext cx="2194560" cy="5029200"/>
          </a:xfrm>
          <a:prstGeom prst="roundRect">
            <a:avLst/>
          </a:prstGeom>
          <a:solidFill>
            <a:srgbClr val="050D1A"/>
          </a:solidFill>
          <a:ln w="12700">
            <a:solidFill>
              <a:srgbClr val="009B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90500" lIns="127000"/>
          <a:lstStyle/>
          <a:p>
            <a:pPr algn="ctr">
              <a:defRPr sz="1200" b="1">
                <a:solidFill>
                  <a:srgbClr val="FFC107"/>
                </a:solidFill>
              </a:defRPr>
            </a:pPr>
            <a:r>
              <a:t>4. MONITORAMENTO</a:t>
            </a:r>
          </a:p>
          <a:p>
            <a:pPr>
              <a:spcBef>
                <a:spcPts val="800"/>
              </a:spcBef>
              <a:defRPr sz="1000">
                <a:solidFill>
                  <a:srgbClr val="FFFFFF"/>
                </a:solidFill>
              </a:defRPr>
            </a:pPr>
            <a:r>
              <a:t>▸ Métricas de Desempenho</a:t>
            </a:r>
          </a:p>
          <a:p>
            <a:pPr>
              <a:spcBef>
                <a:spcPts val="800"/>
              </a:spcBef>
              <a:defRPr sz="1000">
                <a:solidFill>
                  <a:srgbClr val="FFFFFF"/>
                </a:solidFill>
              </a:defRPr>
            </a:pPr>
            <a:r>
              <a:t>▸ Controle de Mudanças</a:t>
            </a:r>
          </a:p>
          <a:p>
            <a:pPr>
              <a:spcBef>
                <a:spcPts val="800"/>
              </a:spcBef>
              <a:defRPr sz="1000">
                <a:solidFill>
                  <a:srgbClr val="FFFFFF"/>
                </a:solidFill>
              </a:defRPr>
            </a:pPr>
            <a:r>
              <a:t>▸ Reuniões de Status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784080" y="1371600"/>
            <a:ext cx="2194560" cy="5029200"/>
          </a:xfrm>
          <a:prstGeom prst="roundRect">
            <a:avLst/>
          </a:prstGeom>
          <a:solidFill>
            <a:srgbClr val="050D1A"/>
          </a:solidFill>
          <a:ln w="12700">
            <a:solidFill>
              <a:srgbClr val="009B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90500" lIns="127000"/>
          <a:lstStyle/>
          <a:p>
            <a:pPr algn="ctr">
              <a:defRPr sz="1200" b="1">
                <a:solidFill>
                  <a:srgbClr val="FFC107"/>
                </a:solidFill>
              </a:defRPr>
            </a:pPr>
            <a:r>
              <a:t>5. ENCERRAMENTO</a:t>
            </a:r>
          </a:p>
          <a:p>
            <a:pPr>
              <a:spcBef>
                <a:spcPts val="800"/>
              </a:spcBef>
              <a:defRPr sz="1000">
                <a:solidFill>
                  <a:srgbClr val="FFFFFF"/>
                </a:solidFill>
              </a:defRPr>
            </a:pPr>
            <a:r>
              <a:t>▸ Testes de Integração</a:t>
            </a:r>
          </a:p>
          <a:p>
            <a:pPr>
              <a:spcBef>
                <a:spcPts val="800"/>
              </a:spcBef>
              <a:defRPr sz="1000">
                <a:solidFill>
                  <a:srgbClr val="FFFFFF"/>
                </a:solidFill>
              </a:defRPr>
            </a:pPr>
            <a:r>
              <a:t>▸ Documentação Final</a:t>
            </a:r>
          </a:p>
          <a:p>
            <a:pPr>
              <a:spcBef>
                <a:spcPts val="800"/>
              </a:spcBef>
              <a:defRPr sz="1000">
                <a:solidFill>
                  <a:srgbClr val="FFFFFF"/>
                </a:solidFill>
              </a:defRPr>
            </a:pPr>
            <a:r>
              <a:t>▸ TEP</a:t>
            </a:r>
          </a:p>
          <a:p>
            <a:pPr>
              <a:spcBef>
                <a:spcPts val="800"/>
              </a:spcBef>
              <a:defRPr sz="1000">
                <a:solidFill>
                  <a:srgbClr val="FFFFFF"/>
                </a:solidFill>
              </a:defRPr>
            </a:pPr>
            <a:r>
              <a:t>▸ Apresentação M4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A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400" b="1">
                <a:solidFill>
                  <a:srgbClr val="FFFFFF"/>
                </a:solidFill>
              </a:defRPr>
            </a:pPr>
            <a:r>
              <a:t>Diagrama de Precedências / Caminho Crítico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868680"/>
            <a:ext cx="2743200" cy="50800"/>
          </a:xfrm>
          <a:prstGeom prst="rect">
            <a:avLst/>
          </a:prstGeom>
          <a:solidFill>
            <a:srgbClr val="009B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DIAGRAMA_PRECEDENCIAS_CP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097280"/>
            <a:ext cx="11612880" cy="96774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A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400" b="1">
                <a:solidFill>
                  <a:srgbClr val="FFFFFF"/>
                </a:solidFill>
              </a:defRPr>
            </a:pPr>
            <a:r>
              <a:t>Análise do Caminho Crítico (CPM)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868680"/>
            <a:ext cx="2743200" cy="50800"/>
          </a:xfrm>
          <a:prstGeom prst="rect">
            <a:avLst/>
          </a:prstGeom>
          <a:solidFill>
            <a:srgbClr val="009B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E74C3C"/>
                </a:solidFill>
              </a:defRPr>
            </a:pPr>
            <a:r>
              <a:t>Caminho Crítico: A → B → C → D → E → F → G → H → J → K → L → M → 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2103120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>
                <a:solidFill>
                  <a:srgbClr val="00D4AA"/>
                </a:solidFill>
              </a:defRPr>
            </a:pPr>
            <a:r>
              <a:t>Duração total do caminho crítico: 3+2+3+4+3+7+5+5+4+3+5+3+2 = 49 dias úteis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743200"/>
            <a:ext cx="5486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E74C3C"/>
                </a:solidFill>
              </a:defRPr>
            </a:pPr>
            <a:r>
              <a:t>A | Definição de Escopo (3d) — CRÍTICO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3246120"/>
            <a:ext cx="5486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E74C3C"/>
                </a:solidFill>
              </a:defRPr>
            </a:pPr>
            <a:r>
              <a:t>B | Visão Geral 5W2H (2d) — CRÍTICO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3749039"/>
            <a:ext cx="5486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E74C3C"/>
                </a:solidFill>
              </a:defRPr>
            </a:pPr>
            <a:r>
              <a:t>C | Termo de Abertura (3d) — CRÍTICO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4251960"/>
            <a:ext cx="5486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E74C3C"/>
                </a:solidFill>
              </a:defRPr>
            </a:pPr>
            <a:r>
              <a:t>D | EAP + Cronograma (4d) — CRÍTICO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754880"/>
            <a:ext cx="5486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E74C3C"/>
                </a:solidFill>
              </a:defRPr>
            </a:pPr>
            <a:r>
              <a:t>E | Setup Docker (3d) — CRÍTICO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5257800"/>
            <a:ext cx="5486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E74C3C"/>
                </a:solidFill>
              </a:defRPr>
            </a:pPr>
            <a:r>
              <a:t>F | Captura de Pacotes (7d) — CRÍTICO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5760720"/>
            <a:ext cx="5486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E74C3C"/>
                </a:solidFill>
              </a:defRPr>
            </a:pPr>
            <a:r>
              <a:t>G | Motor de Assinaturas (5d) — CRÍTICO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0" y="2743200"/>
            <a:ext cx="5486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E74C3C"/>
                </a:solidFill>
              </a:defRPr>
            </a:pPr>
            <a:r>
              <a:t>H | Backend API REST (5d) — CRÍTICO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0" y="3246120"/>
            <a:ext cx="5486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00D4AA"/>
                </a:solidFill>
              </a:defRPr>
            </a:pPr>
            <a:r>
              <a:t>I | Agentes HIDS (8d) — Folga: 3d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0" y="3749039"/>
            <a:ext cx="5486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E74C3C"/>
                </a:solidFill>
              </a:defRPr>
            </a:pPr>
            <a:r>
              <a:t>J | Integração (4d) — CRÍTICO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0" y="4251960"/>
            <a:ext cx="5486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E74C3C"/>
                </a:solidFill>
              </a:defRPr>
            </a:pPr>
            <a:r>
              <a:t>K | Monitoramento (3d) — CRÍTICO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0" y="4754880"/>
            <a:ext cx="5486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E74C3C"/>
                </a:solidFill>
              </a:defRPr>
            </a:pPr>
            <a:r>
              <a:t>L | Testes (5d) — CRÍTICO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0" y="5257800"/>
            <a:ext cx="5486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E74C3C"/>
                </a:solidFill>
              </a:defRPr>
            </a:pPr>
            <a:r>
              <a:t>M | Documentação (3d) — CRÍTICO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0" y="5760720"/>
            <a:ext cx="5486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E74C3C"/>
                </a:solidFill>
              </a:defRPr>
            </a:pPr>
            <a:r>
              <a:t>N | Apresentação M4 (2d) — CRÍTICO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A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400" b="1">
                <a:solidFill>
                  <a:srgbClr val="FFFFFF"/>
                </a:solidFill>
              </a:defRPr>
            </a:pPr>
            <a:r>
              <a:t>Cronograma — Gráfico de Gantt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868680"/>
            <a:ext cx="2743200" cy="50800"/>
          </a:xfrm>
          <a:prstGeom prst="rect">
            <a:avLst/>
          </a:prstGeom>
          <a:solidFill>
            <a:srgbClr val="009B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GRAFICO_GANT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" y="1097280"/>
            <a:ext cx="11795760" cy="10222992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A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400" b="1">
                <a:solidFill>
                  <a:srgbClr val="FFFFFF"/>
                </a:solidFill>
              </a:defRPr>
            </a:pPr>
            <a:r>
              <a:t>Conclusões — Gerenciamento do Tempo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868680"/>
            <a:ext cx="2743200" cy="50800"/>
          </a:xfrm>
          <a:prstGeom prst="rect">
            <a:avLst/>
          </a:prstGeom>
          <a:solidFill>
            <a:srgbClr val="009B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3657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00D4AA"/>
                </a:solidFill>
              </a:defRPr>
            </a:pPr>
            <a:r>
              <a:t>49 dias úteis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0" y="1371600"/>
            <a:ext cx="7315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FFFFFF"/>
                </a:solidFill>
              </a:defRPr>
            </a:pPr>
            <a:r>
              <a:t>Duração do caminho crítico — define o prazo mínimo do projeto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377440"/>
            <a:ext cx="3657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00D4AA"/>
                </a:solidFill>
              </a:defRPr>
            </a:pPr>
            <a:r>
              <a:t>13 atividades críticas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0" y="2377440"/>
            <a:ext cx="7315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FFFFFF"/>
                </a:solidFill>
              </a:defRPr>
            </a:pPr>
            <a:r>
              <a:t>Qualquer atraso nestas atividades impacta diretamente a data final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3383280"/>
            <a:ext cx="3657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00D4AA"/>
                </a:solidFill>
              </a:defRPr>
            </a:pPr>
            <a:r>
              <a:t>1 atividade com folga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0" y="3383280"/>
            <a:ext cx="7315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FFFFFF"/>
                </a:solidFill>
              </a:defRPr>
            </a:pPr>
            <a:r>
              <a:t>Agentes HIDS (3 dias de folga) — pode atrasar sem impactar o projeto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4389120"/>
            <a:ext cx="3657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00D4AA"/>
                </a:solidFill>
              </a:defRPr>
            </a:pPr>
            <a:r>
              <a:t>7 marcos definidos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0" y="4389120"/>
            <a:ext cx="7315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FFFFFF"/>
                </a:solidFill>
              </a:defRPr>
            </a:pPr>
            <a:r>
              <a:t>Pontos de controle para monitoramento de progresso pelo GP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5394960"/>
            <a:ext cx="3657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00D4AA"/>
                </a:solidFill>
              </a:defRPr>
            </a:pPr>
            <a:r>
              <a:t>Ferramenta utilizada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0" y="5394960"/>
            <a:ext cx="7315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FFFFFF"/>
                </a:solidFill>
              </a:defRPr>
            </a:pPr>
            <a:r>
              <a:t>Mermaid (diagramas) + análise manual do CPM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