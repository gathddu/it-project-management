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SENTINEL IDS</a:t>
            </a:r>
          </a:p>
          <a:p>
            <a:pPr>
              <a:spcBef>
                <a:spcPts val="1200"/>
              </a:spcBef>
              <a:defRPr sz="2200">
                <a:solidFill>
                  <a:srgbClr val="00D4AA"/>
                </a:solidFill>
              </a:defRPr>
            </a:pPr>
            <a:r>
              <a:t>Intrusion Detection System Enterprise-Grade</a:t>
            </a:r>
          </a:p>
          <a:p>
            <a:pPr>
              <a:spcBef>
                <a:spcPts val="2400"/>
              </a:spcBef>
            </a:pPr>
          </a:p>
          <a:p>
            <a:pPr>
              <a:defRPr sz="1600">
                <a:solidFill>
                  <a:srgbClr val="CCCCCC"/>
                </a:solidFill>
              </a:defRPr>
            </a:pPr>
            <a:r>
              <a:t>Gerência de Projetos em TI — CEUB</a:t>
            </a:r>
          </a:p>
          <a:p>
            <a:pPr>
              <a:defRPr sz="1400">
                <a:solidFill>
                  <a:srgbClr val="CCCCCC"/>
                </a:solidFill>
              </a:defRPr>
            </a:pPr>
            <a:r>
              <a:t>Prof. Roberto Paldês | Semestre 2026.1</a:t>
            </a:r>
          </a:p>
        </p:txBody>
      </p:sp>
      <p:pic>
        <p:nvPicPr>
          <p:cNvPr id="3" name="Picture 2" descr="soc_cen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4114800" cy="18210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30352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107"/>
                </a:solidFill>
              </a:defRPr>
            </a:pPr>
            <a:r>
              <a:t>Cristian Shaka Nken — Gerente de Projetos</a:t>
            </a:r>
          </a:p>
          <a:p>
            <a:pPr>
              <a:defRPr sz="1400">
                <a:solidFill>
                  <a:srgbClr val="FFC107"/>
                </a:solidFill>
              </a:defRPr>
            </a:pPr>
            <a:r>
              <a:t>Jess Saito Forster — Líder Técnico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O Problema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50800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200400" cy="2286000"/>
          </a:xfrm>
          <a:prstGeom prst="roundRect">
            <a:avLst/>
          </a:prstGeom>
          <a:solidFill>
            <a:srgbClr val="050D1A"/>
          </a:solidFill>
          <a:ln w="25400">
            <a:solidFill>
              <a:srgbClr val="009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00D4AA"/>
                </a:solidFill>
              </a:defRPr>
            </a:pPr>
            <a:r>
              <a:t>+38%</a:t>
            </a:r>
          </a:p>
          <a:p>
            <a:pPr algn="ctr">
              <a:defRPr sz="1400">
                <a:solidFill>
                  <a:srgbClr val="CCCCCC"/>
                </a:solidFill>
              </a:defRPr>
            </a:pPr>
            <a:r>
              <a:t>Aumento de ataques</a:t>
            </a:r>
            <a:br/>
            <a:r>
              <a:t>cibernéticos em 2024</a:t>
            </a:r>
            <a:br/>
            <a:r>
              <a:t>(Check Point Research)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828800"/>
            <a:ext cx="3200400" cy="2286000"/>
          </a:xfrm>
          <a:prstGeom prst="roundRect">
            <a:avLst/>
          </a:prstGeom>
          <a:solidFill>
            <a:srgbClr val="050D1A"/>
          </a:solidFill>
          <a:ln w="25400">
            <a:solidFill>
              <a:srgbClr val="009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00D4AA"/>
                </a:solidFill>
              </a:defRPr>
            </a:pPr>
            <a:r>
              <a:t>US$ 4.88M</a:t>
            </a:r>
          </a:p>
          <a:p>
            <a:pPr algn="ctr">
              <a:defRPr sz="1400">
                <a:solidFill>
                  <a:srgbClr val="CCCCCC"/>
                </a:solidFill>
              </a:defRPr>
            </a:pPr>
            <a:r>
              <a:t>Custo médio de um</a:t>
            </a:r>
            <a:br/>
            <a:r>
              <a:t>data breach em 2024</a:t>
            </a:r>
            <a:br/>
            <a:r>
              <a:t>(IBM Security)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828800"/>
            <a:ext cx="3200400" cy="2286000"/>
          </a:xfrm>
          <a:prstGeom prst="roundRect">
            <a:avLst/>
          </a:prstGeom>
          <a:solidFill>
            <a:srgbClr val="050D1A"/>
          </a:solidFill>
          <a:ln w="25400">
            <a:solidFill>
              <a:srgbClr val="009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00D4AA"/>
                </a:solidFill>
              </a:defRPr>
            </a:pPr>
            <a:r>
              <a:t>68%</a:t>
            </a:r>
          </a:p>
          <a:p>
            <a:pPr algn="ctr">
              <a:defRPr sz="1400">
                <a:solidFill>
                  <a:srgbClr val="CCCCCC"/>
                </a:solidFill>
              </a:defRPr>
            </a:pPr>
            <a:r>
              <a:t>PMEs sem qualquer</a:t>
            </a:r>
            <a:br/>
            <a:r>
              <a:t>solução de IDS</a:t>
            </a:r>
            <a:br/>
            <a:r>
              <a:t>(Ponemon Institute)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500">
                <a:solidFill>
                  <a:srgbClr val="CCCCCC"/>
                </a:solidFill>
              </a:defRPr>
            </a:pPr>
            <a:r>
              <a:t>Organizações de médio porte não possuem orçamento para soluções comerciais de detecção de intrusões. O Sentinel IDS preenche essa lacuna com uma solução open-source, enterprise-grade, com custo zero de licenciamento.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Sentinel IDS — Visão Geral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50800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474720" cy="3200400"/>
          </a:xfrm>
          <a:prstGeom prst="roundRect">
            <a:avLst/>
          </a:prstGeom>
          <a:solidFill>
            <a:srgbClr val="050D1A"/>
          </a:solidFill>
          <a:ln w="19050">
            <a:solidFill>
              <a:srgbClr val="009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0" lIns="190500" rIns="190500"/>
          <a:lstStyle/>
          <a:p>
            <a:pPr algn="ctr">
              <a:defRPr sz="1800" b="1">
                <a:solidFill>
                  <a:srgbClr val="00D4AA"/>
                </a:solidFill>
              </a:defRPr>
            </a:pPr>
            <a:r>
              <a:t>CORE NIDS</a:t>
            </a:r>
          </a:p>
          <a:p>
            <a:pPr>
              <a:spcBef>
                <a:spcPts val="1200"/>
              </a:spcBef>
            </a:pPr>
          </a:p>
          <a:p>
            <a:pPr algn="ctr">
              <a:lnSpc>
                <a:spcPts val="2000"/>
              </a:lnSpc>
              <a:defRPr sz="1300">
                <a:solidFill>
                  <a:srgbClr val="FFFFFF"/>
                </a:solidFill>
              </a:defRPr>
            </a:pPr>
            <a:r>
              <a:t>Captura e análise de pacotes</a:t>
            </a:r>
            <a:br/>
            <a:r>
              <a:t>em tempo real com libpcap.</a:t>
            </a:r>
            <a:br/>
            <a:r>
              <a:t>Motor de assinaturas</a:t>
            </a:r>
            <a:br/>
            <a:r>
              <a:t>configurável (4+ regras).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828800"/>
            <a:ext cx="3474720" cy="3200400"/>
          </a:xfrm>
          <a:prstGeom prst="roundRect">
            <a:avLst/>
          </a:prstGeom>
          <a:solidFill>
            <a:srgbClr val="050D1A"/>
          </a:solidFill>
          <a:ln w="19050">
            <a:solidFill>
              <a:srgbClr val="009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0" lIns="190500" rIns="190500"/>
          <a:lstStyle/>
          <a:p>
            <a:pPr algn="ctr">
              <a:defRPr sz="1800" b="1">
                <a:solidFill>
                  <a:srgbClr val="00D4AA"/>
                </a:solidFill>
              </a:defRPr>
            </a:pPr>
            <a:r>
              <a:t>AGENTES HIDS</a:t>
            </a:r>
          </a:p>
          <a:p>
            <a:pPr>
              <a:spcBef>
                <a:spcPts val="1200"/>
              </a:spcBef>
            </a:pPr>
          </a:p>
          <a:p>
            <a:pPr algn="ctr">
              <a:lnSpc>
                <a:spcPts val="2000"/>
              </a:lnSpc>
              <a:defRPr sz="1300">
                <a:solidFill>
                  <a:srgbClr val="FFFFFF"/>
                </a:solidFill>
              </a:defRPr>
            </a:pPr>
            <a:r>
              <a:t>Daemons leves em hosts</a:t>
            </a:r>
            <a:br/>
            <a:r>
              <a:t>Windows e Linux.</a:t>
            </a:r>
            <a:br/>
            <a:r>
              <a:t>Monitoramento de processos</a:t>
            </a:r>
            <a:br/>
            <a:r>
              <a:t>e conexões anômalas.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828800"/>
            <a:ext cx="3474720" cy="3200400"/>
          </a:xfrm>
          <a:prstGeom prst="roundRect">
            <a:avLst/>
          </a:prstGeom>
          <a:solidFill>
            <a:srgbClr val="050D1A"/>
          </a:solidFill>
          <a:ln w="19050">
            <a:solidFill>
              <a:srgbClr val="009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0" lIns="190500" rIns="190500"/>
          <a:lstStyle/>
          <a:p>
            <a:pPr algn="ctr">
              <a:defRPr sz="1800" b="1">
                <a:solidFill>
                  <a:srgbClr val="00D4AA"/>
                </a:solidFill>
              </a:defRPr>
            </a:pPr>
            <a:r>
              <a:t>BACKEND API</a:t>
            </a:r>
          </a:p>
          <a:p>
            <a:pPr>
              <a:spcBef>
                <a:spcPts val="1200"/>
              </a:spcBef>
            </a:pPr>
          </a:p>
          <a:p>
            <a:pPr algn="ctr">
              <a:lnSpc>
                <a:spcPts val="2000"/>
              </a:lnSpc>
              <a:defRPr sz="1300">
                <a:solidFill>
                  <a:srgbClr val="FFFFFF"/>
                </a:solidFill>
              </a:defRPr>
            </a:pPr>
            <a:r>
              <a:t>Serviço REST centralizado.</a:t>
            </a:r>
            <a:br/>
            <a:r>
              <a:t>CRUD de alertas + PostgreSQL.</a:t>
            </a:r>
            <a:br/>
            <a:r>
              <a:t>Filtros por severidade,</a:t>
            </a:r>
            <a:br/>
            <a:r>
              <a:t>tipo e timestamp.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C107"/>
                </a:solidFill>
              </a:defRPr>
            </a:pPr>
            <a:r>
              <a:t>Observabilidade: Prometheus + Grafana | Linguagem: Go 1.22+ | Infra: Docker Compose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Stack Tecnológica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50800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4AA"/>
                </a:solidFill>
              </a:defRPr>
            </a:pPr>
            <a:r>
              <a:t>Go 1.22+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6459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Core IDS, Agentes, Backend — performance e concorrência nativa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4AA"/>
                </a:solidFill>
              </a:defRPr>
            </a:pPr>
            <a:r>
              <a:t>libpcap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4231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Captura de pacotes em modo promíscuo — padrão da indústria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4AA"/>
                </a:solidFill>
              </a:defRPr>
            </a:pPr>
            <a:r>
              <a:t>PostgreSQL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2004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Persistência de alertas com indexação por severidade e timestamp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77639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4AA"/>
                </a:solidFill>
              </a:defRPr>
            </a:pPr>
            <a:r>
              <a:t>Docker + Compose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977639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Containerização completa — deploy reproduzível em qualquer ambiente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4AA"/>
                </a:solidFill>
              </a:defRPr>
            </a:pPr>
            <a:r>
              <a:t>Prometheus + Grafana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7548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Métricas em tempo real — throughput, latência, taxa de detecção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53212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4AA"/>
                </a:solidFill>
              </a:defRPr>
            </a:pPr>
            <a:r>
              <a:t>GitHub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55321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CI/CD automatizado — build, lint, test a cada commit</a:t>
            </a:r>
          </a:p>
        </p:txBody>
      </p:sp>
      <p:pic>
        <p:nvPicPr>
          <p:cNvPr id="16" name="Picture 15" descr="security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4114800"/>
            <a:ext cx="3200400" cy="2400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Por Que Este Projeto?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50800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4AA"/>
                </a:solidFill>
              </a:defRPr>
            </a:pPr>
            <a:r>
              <a:t>VALOR TANGÍVEL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▸ Detecção de 4+ categorias de ataques em tempo real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▸ Latência &lt; 50ms por pacote analisado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▸ Redução de 70% no MTTR (tempo médio de resposta)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▸ Custo de licenciamento: R$ 0,00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4AA"/>
                </a:solidFill>
              </a:defRPr>
            </a:pPr>
            <a:r>
              <a:t>VALOR INTANGÍVEL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▸ Contribuição ao ecossistema open-source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▸ Competências em Go, Docker, CI/CD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▸ Aplicação prática do PMBOK 7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▸ Portfólio técnico para o mercado</a:t>
            </a:r>
          </a:p>
        </p:txBody>
      </p:sp>
      <p:pic>
        <p:nvPicPr>
          <p:cNvPr id="8" name="Picture 7" descr="soc_operatio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4114800"/>
            <a:ext cx="6400800" cy="33504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Equipe do Projeto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50800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303520" cy="4114800"/>
          </a:xfrm>
          <a:prstGeom prst="roundRect">
            <a:avLst/>
          </a:prstGeom>
          <a:solidFill>
            <a:srgbClr val="050D1A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17500" lIns="254000"/>
          <a:lstStyle/>
          <a:p>
            <a:pPr algn="ctr">
              <a:defRPr sz="2000" b="1">
                <a:solidFill>
                  <a:srgbClr val="FFC107"/>
                </a:solidFill>
              </a:defRPr>
            </a:pPr>
            <a:r>
              <a:t>CRISTIAN SHAKA NKEN</a:t>
            </a:r>
          </a:p>
          <a:p>
            <a:pPr algn="ctr">
              <a:spcBef>
                <a:spcPts val="800"/>
              </a:spcBef>
              <a:defRPr sz="1600">
                <a:solidFill>
                  <a:srgbClr val="00D4AA"/>
                </a:solidFill>
              </a:defRPr>
            </a:pPr>
            <a:r>
              <a:t>Gerente de Projetos (GP)</a:t>
            </a:r>
          </a:p>
          <a:p>
            <a:pPr>
              <a:spcBef>
                <a:spcPts val="1600"/>
              </a:spcBef>
            </a:pP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▸ Planejamento estratégico e cronograma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▸ Gestão de riscos e mudanças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▸ Comunicação com stakeholders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▸ Monitoramento de progresso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▸ Qualidade dos entregáveis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▸ 160 horas no semestre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303520" cy="4114800"/>
          </a:xfrm>
          <a:prstGeom prst="roundRect">
            <a:avLst/>
          </a:prstGeom>
          <a:solidFill>
            <a:srgbClr val="050D1A"/>
          </a:solidFill>
          <a:ln w="25400">
            <a:solidFill>
              <a:srgbClr val="009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17500" lIns="254000"/>
          <a:lstStyle/>
          <a:p>
            <a:pPr algn="ctr">
              <a:defRPr sz="2000" b="1">
                <a:solidFill>
                  <a:srgbClr val="009BD6"/>
                </a:solidFill>
              </a:defRPr>
            </a:pPr>
            <a:r>
              <a:t>JESS SAITO FORSTER</a:t>
            </a:r>
          </a:p>
          <a:p>
            <a:pPr algn="ctr">
              <a:spcBef>
                <a:spcPts val="800"/>
              </a:spcBef>
              <a:defRPr sz="1600">
                <a:solidFill>
                  <a:srgbClr val="00D4AA"/>
                </a:solidFill>
              </a:defRPr>
            </a:pPr>
            <a:r>
              <a:t>Líder Técnico / Desenvolvedora</a:t>
            </a:r>
          </a:p>
          <a:p>
            <a:pPr>
              <a:spcBef>
                <a:spcPts val="1600"/>
              </a:spcBef>
            </a:pP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▸ Arquitetura de software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▸ Implementação Core NIDS + HIDS + API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▸ Infraestrutura Docker e CI/CD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▸ Testes técnicos e performance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▸ Documentação técnica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▸ 200 horas no semestre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Orçamento e Recursos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50800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0D4AA"/>
                </a:solidFill>
              </a:defRPr>
            </a:pPr>
            <a:r>
              <a:t>R$ 0,00</a:t>
            </a:r>
          </a:p>
          <a:p>
            <a:pPr>
              <a:defRPr sz="1600">
                <a:solidFill>
                  <a:srgbClr val="CCCCCC"/>
                </a:solidFill>
              </a:defRPr>
            </a:pPr>
            <a:r>
              <a:t>Desembolso financeiro direto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64592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C107"/>
                </a:solidFill>
              </a:defRPr>
            </a:pPr>
            <a:r>
              <a:t>360h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645920"/>
            <a:ext cx="365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Horas totais da equipe (160h GP + 200h LT)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37744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C107"/>
                </a:solidFill>
              </a:defRPr>
            </a:pPr>
            <a:r>
              <a:t>2 Notebooks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377440"/>
            <a:ext cx="365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BYOD para desenvolvimento e containers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10896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C107"/>
                </a:solidFill>
              </a:defRPr>
            </a:pPr>
            <a:r>
              <a:t>1 Raspberry 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3108960"/>
            <a:ext cx="365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Nó de teste HIDS embarcado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84048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C107"/>
                </a:solidFill>
              </a:defRPr>
            </a:pPr>
            <a:r>
              <a:t>OCI Free Tier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3840480"/>
            <a:ext cx="365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2 instâncias ARM para homologação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457200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C107"/>
                </a:solidFill>
              </a:defRPr>
            </a:pPr>
            <a:r>
              <a:t>GitHub Education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4572000"/>
            <a:ext cx="365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CI/CD com 2.000 min/mês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530352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C107"/>
                </a:solidFill>
              </a:defRPr>
            </a:pPr>
            <a:r>
              <a:t>Lab CEUB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5303520"/>
            <a:ext cx="365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Infraestrutura física e rede Wi-Fi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CCCCCC"/>
                </a:solidFill>
              </a:defRPr>
            </a:pPr>
            <a:r>
              <a:t>Valor de mercado equivalente: ~R$ 28.800 em capital humano (360h × R$ 80/h júnior Brasília)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Riscos Preliminares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50800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74C3C"/>
                </a:solidFill>
              </a:defRPr>
            </a:pPr>
            <a:r>
              <a:t>ALTO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6459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Captura em modo promíscuo pode exigir permissões indisponíveis em ambientes de teste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1031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00D4AA"/>
                </a:solidFill>
              </a:defRPr>
            </a:pPr>
            <a:r>
              <a:t>Mitigação: Docker com --cap-add=NET_RAW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C107"/>
                </a:solidFill>
              </a:defRPr>
            </a:pPr>
            <a:r>
              <a:t>MÉDIO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83464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Falsos positivos no motor de assinaturas durante demonstração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2918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00D4AA"/>
                </a:solidFill>
              </a:defRPr>
            </a:pPr>
            <a:r>
              <a:t>Mitigação: Testes com payloads conhecidos + tuning de thresholds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233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C107"/>
                </a:solidFill>
              </a:defRPr>
            </a:pPr>
            <a:r>
              <a:t>MÉDIO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0233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Limitação de tempo (2 membros, carga acadêmica concorrente)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4805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00D4AA"/>
                </a:solidFill>
              </a:defRPr>
            </a:pPr>
            <a:r>
              <a:t>Mitigação: Escopo MVP definido + sprints de 2 semanas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21208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AA"/>
                </a:solidFill>
              </a:defRPr>
            </a:pPr>
            <a:r>
              <a:t>BAIXO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52120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Incompatibilidade do agente HIDS entre versões de 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5669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00D4AA"/>
                </a:solidFill>
              </a:defRPr>
            </a:pPr>
            <a:r>
              <a:t>Mitigação: Foco em Linux (NixOS) + Windows 11 apenas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Cronograma de Marcos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50800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M1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5544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C107"/>
                </a:solidFill>
              </a:defRPr>
            </a:pPr>
            <a:r>
              <a:t>Sem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554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TAP + Visão Geral + Apresentação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011680"/>
            <a:ext cx="38100" cy="228600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2240280"/>
            <a:ext cx="457200" cy="457200"/>
          </a:xfrm>
          <a:prstGeom prst="ellipse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M2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2402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C107"/>
                </a:solidFill>
              </a:defRPr>
            </a:pPr>
            <a:r>
              <a:t>Sem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240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Core NIDS funcional (captura + 2 regras)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2697480"/>
            <a:ext cx="38100" cy="228600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080" y="2926080"/>
            <a:ext cx="457200" cy="457200"/>
          </a:xfrm>
          <a:prstGeom prst="ellipse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M3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C107"/>
                </a:solidFill>
              </a:defRPr>
            </a:pPr>
            <a:r>
              <a:t>Sem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26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Agentes HIDS + Backend API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3383280"/>
            <a:ext cx="38100" cy="228600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611880"/>
            <a:ext cx="457200" cy="457200"/>
          </a:xfrm>
          <a:prstGeom prst="ellipse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M4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611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C107"/>
                </a:solidFill>
              </a:defRPr>
            </a:pPr>
            <a:r>
              <a:t>Sem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611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EAP + Gantt + Precedências (AT3)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" y="4069080"/>
            <a:ext cx="38100" cy="228600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" y="4297680"/>
            <a:ext cx="457200" cy="457200"/>
          </a:xfrm>
          <a:prstGeom prst="ellipse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M5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2976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C107"/>
                </a:solidFill>
              </a:defRPr>
            </a:pPr>
            <a:r>
              <a:t>Sem 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42976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Integração completa + Grafana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" y="4754880"/>
            <a:ext cx="38100" cy="228600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0080" y="4983480"/>
            <a:ext cx="457200" cy="457200"/>
          </a:xfrm>
          <a:prstGeom prst="ellipse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M6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9834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C107"/>
                </a:solidFill>
              </a:defRPr>
            </a:pPr>
            <a:r>
              <a:t>Sem 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983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Testes de carga + AT4 (Encerramento)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" y="5440680"/>
            <a:ext cx="38100" cy="228600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" y="5669280"/>
            <a:ext cx="457200" cy="457200"/>
          </a:xfrm>
          <a:prstGeom prst="ellipse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M7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6692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C107"/>
                </a:solidFill>
              </a:defRPr>
            </a:pPr>
            <a:r>
              <a:t>Sem 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5669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Apresentação Final M4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SENTINEL IDS</a:t>
            </a:r>
          </a:p>
          <a:p>
            <a:pPr algn="ctr">
              <a:spcBef>
                <a:spcPts val="2000"/>
              </a:spcBef>
              <a:defRPr sz="2000">
                <a:solidFill>
                  <a:srgbClr val="00D4AA"/>
                </a:solidFill>
              </a:defRPr>
            </a:pPr>
            <a:r>
              <a:t>Protegendo redes. Detectando ameaças. Custo zero.</a:t>
            </a:r>
          </a:p>
          <a:p>
            <a:pPr>
              <a:spcBef>
                <a:spcPts val="4000"/>
              </a:spcBef>
            </a:pPr>
          </a:p>
          <a:p>
            <a:pPr algn="ctr">
              <a:defRPr sz="1600">
                <a:solidFill>
                  <a:srgbClr val="FFC107"/>
                </a:solidFill>
              </a:defRPr>
            </a:pPr>
            <a:r>
              <a:t>Cristian Shaka Nken (GP) | Jess Saito Forster (Líder Técnico)</a:t>
            </a:r>
          </a:p>
          <a:p>
            <a:pPr algn="ctr"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Gerência de Projetos em TI — CEUB — Prof. Roberto Paldês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