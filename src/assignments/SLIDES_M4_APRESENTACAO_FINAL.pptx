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solidFill>
              <a:srgbClr val="009BD6"/>
            </a:solidFill>
          </c:spPr>
          <c:cat>
            <c:strRef>
              <c:f>Sheet1!$A$2:$A$6</c:f>
              <c:strCache>
                <c:ptCount val="5"/>
                <c:pt idx="0">
                  <c:v>Prazo
(semanas)</c:v>
                </c:pt>
                <c:pt idx="1">
                  <c:v>Horas GP</c:v>
                </c:pt>
                <c:pt idx="2">
                  <c:v>Horas LT</c:v>
                </c:pt>
                <c:pt idx="3">
                  <c:v>Módulos
Entregues</c:v>
                </c:pt>
                <c:pt idx="4">
                  <c:v>Regras
Detecção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160</c:v>
                </c:pt>
                <c:pt idx="2">
                  <c:v>200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Sheet1!$A$2:$A$6</c:f>
              <c:strCache>
                <c:ptCount val="5"/>
                <c:pt idx="0">
                  <c:v>Prazo
(semanas)</c:v>
                </c:pt>
                <c:pt idx="1">
                  <c:v>Horas GP</c:v>
                </c:pt>
                <c:pt idx="2">
                  <c:v>Horas LT</c:v>
                </c:pt>
                <c:pt idx="3">
                  <c:v>Módulos
Entregues</c:v>
                </c:pt>
                <c:pt idx="4">
                  <c:v>Regras
Detecção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155</c:v>
                </c:pt>
                <c:pt idx="2">
                  <c:v>220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SENTINEL IDS</a:t>
            </a:r>
          </a:p>
          <a:p>
            <a:pPr>
              <a:spcBef>
                <a:spcPts val="800"/>
              </a:spcBef>
              <a:defRPr sz="2400">
                <a:solidFill>
                  <a:srgbClr val="00D4AA"/>
                </a:solidFill>
              </a:defRPr>
            </a:pPr>
            <a:r>
              <a:t>Apresentação Final do Projeto</a:t>
            </a:r>
          </a:p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</a:defRPr>
            </a:pPr>
            <a:r>
              <a:t>Intrusion Detection System Enterprise-Grade em Go</a:t>
            </a:r>
          </a:p>
          <a:p>
            <a:pPr>
              <a:spcBef>
                <a:spcPts val="3000"/>
              </a:spcBef>
            </a:pPr>
          </a:p>
          <a:p>
            <a:pPr>
              <a:defRPr sz="1500">
                <a:solidFill>
                  <a:srgbClr val="FFC107"/>
                </a:solidFill>
              </a:defRPr>
            </a:pPr>
            <a:r>
              <a:t>Cristian Shaka Nken — Gerente de Projetos</a:t>
            </a:r>
          </a:p>
          <a:p>
            <a:pPr>
              <a:spcBef>
                <a:spcPts val="400"/>
              </a:spcBef>
              <a:defRPr sz="1500">
                <a:solidFill>
                  <a:srgbClr val="FFC107"/>
                </a:solidFill>
              </a:defRPr>
            </a:pPr>
            <a:r>
              <a:t>Jess Saito Forster — Líder Técnico</a:t>
            </a:r>
          </a:p>
          <a:p>
            <a:pPr>
              <a:spcBef>
                <a:spcPts val="2000"/>
              </a:spcBef>
            </a:pP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Gerência de Projetos em TI — CEUB — Prof. Roberto Paldês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Semestre 2026.1 | Junho 2026</a:t>
            </a:r>
          </a:p>
        </p:txBody>
      </p:sp>
      <p:pic>
        <p:nvPicPr>
          <p:cNvPr id="3" name="Picture 2" descr="soc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840480" cy="1699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Contexto e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2. Solução: Sentinel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3. Termo de Abertura (Recap)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4. Estrutura Analítica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5. Caminho Crítico e Cronograma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6. Estrutura Analítica de Recursos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7. Resultados e Métricas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8. Desempenho: Planejado vs. Realizado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9. Lições Aprendidas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10.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Contexto: O Cenário de Cibersegurança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+38%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Aumento de ataques</a:t>
            </a:r>
            <a:br/>
            <a:r>
              <a:t>cibernéticos em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US$ 4.88M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Custo médio de</a:t>
            </a:r>
            <a:br/>
            <a:r>
              <a:t>data breach (IBM)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68%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PMEs sem solução</a:t>
            </a:r>
            <a:br/>
            <a:r>
              <a:t>de IDS adequada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O PROBLEMA</a:t>
            </a:r>
          </a:p>
          <a:p>
            <a:pPr>
              <a:lnSpc>
                <a:spcPts val="2200"/>
              </a:lnSpc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Soluções comerciais de IDS (Snort Enterprise, Suricata Pro, SIEM integrados) exigem investimentos significativos em licenciamento e hardware dedicado. Organizações de médio porte permanecem vulneráveis por falta de alternativas acessíveis.</a:t>
            </a:r>
          </a:p>
          <a:p>
            <a:pPr>
              <a:spcBef>
                <a:spcPts val="1200"/>
              </a:spcBef>
            </a:pPr>
          </a:p>
          <a:p>
            <a:pPr>
              <a:defRPr sz="1800" b="1">
                <a:solidFill>
                  <a:srgbClr val="00D4AA"/>
                </a:solidFill>
              </a:defRPr>
            </a:pPr>
            <a:r>
              <a:t>A SOLUÇÃO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Sentinel IDS: sistema open-source em Go, enterprise-grade, com NIDS + HIDS + API REST + monitoramento Grafana. Custo de licenciamento: R$ 0,00.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/>
          <a:lstStyle/>
          <a:p>
            <a:pPr algn="ctr">
              <a:defRPr sz="1800" b="1">
                <a:solidFill>
                  <a:srgbClr val="009BD6"/>
                </a:solidFill>
              </a:defRPr>
            </a:pPr>
            <a:r>
              <a:t>CORE NIDS</a:t>
            </a:r>
          </a:p>
          <a:p>
            <a:pPr>
              <a:spcBef>
                <a:spcPts val="10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Go + libpcap</a:t>
            </a:r>
            <a:br/>
            <a:r>
              <a:t>Captura de pacotes</a:t>
            </a:r>
            <a:br/>
            <a:r>
              <a:t>4 regras de detecção</a:t>
            </a:r>
            <a:br/>
            <a:r>
              <a:t>Latência &lt; 50ms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9260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AGENTES HIDS</a:t>
            </a:r>
          </a:p>
          <a:p>
            <a:pPr>
              <a:spcBef>
                <a:spcPts val="10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Go daemons</a:t>
            </a:r>
            <a:br/>
            <a:r>
              <a:t>Linux + Windows</a:t>
            </a:r>
            <a:br/>
            <a:r>
              <a:t>Monitor de processos</a:t>
            </a:r>
            <a:br/>
            <a:r>
              <a:t>Conexões anômalas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9260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/>
          <a:lstStyle/>
          <a:p>
            <a:pPr algn="ctr">
              <a:defRPr sz="1800" b="1">
                <a:solidFill>
                  <a:srgbClr val="FFC107"/>
                </a:solidFill>
              </a:defRPr>
            </a:pPr>
            <a:r>
              <a:t>BACKEND API</a:t>
            </a:r>
          </a:p>
          <a:p>
            <a:pPr>
              <a:spcBef>
                <a:spcPts val="10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Go + PostgreSQL</a:t>
            </a:r>
            <a:br/>
            <a:r>
              <a:t>CRUD de alertas</a:t>
            </a:r>
            <a:br/>
            <a:r>
              <a:t>Filtros avançados</a:t>
            </a:r>
            <a:br/>
            <a:r>
              <a:t>Autenticação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INFRAESTRUTURA</a:t>
            </a:r>
          </a:p>
          <a:p>
            <a:pPr algn="ctr"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Docker Compose | PostgreSQL | Prometheus | Grafana | GitHub Actions CI/CD</a:t>
            </a:r>
          </a:p>
        </p:txBody>
      </p:sp>
      <p:pic>
        <p:nvPicPr>
          <p:cNvPr id="8" name="Picture 7" descr="securi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572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Termo de Abertura — Resumo Executivo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Sentinel IDS — IDS Enterprise-Grade em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Cristian Shaka Nken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Líder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Jess Saito Forster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39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39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Coordenação de CC — CEUB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4047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Março a Junho 2026 (16 semanas)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Orçamento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R$ 0,00 direto | ~R$ 28.800 em capital humano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Escopo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NIDS + HIDS + API REST + Monitoramento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1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</a:defRPr>
            </a:pPr>
            <a:r>
              <a:t>Critério de Sucesso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76071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 módulos integrados + 4 ataques detectados + Dashboard operacional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Estrutura Analítica do Projeto (EAP)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AP_ESTRUTURA_ANALI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604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Diagrama de Precedências / Caminho Crítico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A_PRECEDENCIAS_C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Cronograma — Gráfico de Gantt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10222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Estrutura Analítica de Recursos (EAR)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834640" cy="41148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HUMANOS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Cristian Shaka Nken — GP (160h)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Jess Saito Forster — Dev (200h)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Prof. Roberto Paldês — Orientador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371600"/>
            <a:ext cx="2834640" cy="41148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HARDWARE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2 Notebooks pessoais (BYOD)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1 Raspberry Pi 4 (teste HIDS)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Lab Informática CEUB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371600"/>
            <a:ext cx="2834640" cy="41148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SOFTWARE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Go 1.22+ | Docker | libpcap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PostgreSQL | Prometheus | Grafana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GitHub Actions |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71600"/>
            <a:ext cx="2834640" cy="41148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INFRAESTRUTURA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OCI Free Tier (2 ARM)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Rede Wi-Fi CEUB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▸ Discord + GitHub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AA"/>
                </a:solidFill>
              </a:defRPr>
            </a:pPr>
            <a:r>
              <a:t>Custo direto: R$ 0,00 | Valor equivalente em capital humano: ~R$ 28.800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Resultados Alcançados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4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Categorias de ataques</a:t>
            </a:r>
            <a:br/>
            <a:r>
              <a:t>detectadas com sucesso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&lt;50ms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Latência média de</a:t>
            </a:r>
            <a:br/>
            <a:r>
              <a:t>análise por pacote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95%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Escopo planejado</a:t>
            </a:r>
            <a:br/>
            <a:r>
              <a:t>entregue com sucesso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Core NIDS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Operacional — SQLi, XSS, Path Traversal, CMDi detectados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Agentes HIDS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Linux completo | Windows parcial (processos OK, file integrity pendente)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937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CRUD completo com filtros por severidade e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Monitoramento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5 dashboards Grafana operacionais em tempo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Pipeline GitHub Actions: build + lint + test automatizados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Desempenho: Planejado vs. Realizado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ANÁLISE</a:t>
            </a:r>
          </a:p>
          <a:p>
            <a:pPr>
              <a:spcBef>
                <a:spcPts val="1200"/>
              </a:spcBef>
            </a:pPr>
          </a:p>
          <a:p>
            <a:r>
              <a:rPr sz="1200" b="1">
                <a:solidFill>
                  <a:srgbClr val="00D4AA"/>
                </a:solidFill>
              </a:rPr>
              <a:t>Prazo:</a:t>
            </a:r>
            <a:r>
              <a:rPr sz="1200">
                <a:solidFill>
                  <a:srgbClr val="FFFFFF"/>
                </a:solidFill>
              </a:rPr>
              <a:t> Entrega antecipada em 2 semanas</a:t>
            </a:r>
          </a:p>
          <a:p>
            <a:pPr>
              <a:spcBef>
                <a:spcPts val="1200"/>
              </a:spcBef>
            </a:pPr>
          </a:p>
          <a:p>
            <a:r>
              <a:rPr sz="1200" b="1">
                <a:solidFill>
                  <a:srgbClr val="00D4AA"/>
                </a:solidFill>
              </a:rPr>
              <a:t>GP:</a:t>
            </a:r>
            <a:r>
              <a:rPr sz="1200">
                <a:solidFill>
                  <a:srgbClr val="FFFFFF"/>
                </a:solidFill>
              </a:rPr>
              <a:t> 5h abaixo do planejado</a:t>
            </a:r>
          </a:p>
          <a:p>
            <a:pPr>
              <a:spcBef>
                <a:spcPts val="1200"/>
              </a:spcBef>
            </a:pPr>
          </a:p>
          <a:p>
            <a:r>
              <a:rPr sz="1200" b="1">
                <a:solidFill>
                  <a:srgbClr val="00D4AA"/>
                </a:solidFill>
              </a:rPr>
              <a:t>LT:</a:t>
            </a:r>
            <a:r>
              <a:rPr sz="1200">
                <a:solidFill>
                  <a:srgbClr val="FFFFFF"/>
                </a:solidFill>
              </a:rPr>
              <a:t> 20h acima (investigação Windows)</a:t>
            </a:r>
          </a:p>
          <a:p>
            <a:pPr>
              <a:spcBef>
                <a:spcPts val="1200"/>
              </a:spcBef>
            </a:pPr>
          </a:p>
          <a:p>
            <a:r>
              <a:rPr sz="1200" b="1">
                <a:solidFill>
                  <a:srgbClr val="00D4AA"/>
                </a:solidFill>
              </a:rPr>
              <a:t>Escopo:</a:t>
            </a:r>
            <a:r>
              <a:rPr sz="1200">
                <a:solidFill>
                  <a:srgbClr val="FFFFFF"/>
                </a:solidFill>
              </a:rPr>
              <a:t> 95% entregue (file integrity pendente)</a:t>
            </a:r>
          </a:p>
          <a:p>
            <a:pPr>
              <a:spcBef>
                <a:spcPts val="1200"/>
              </a:spcBef>
            </a:pPr>
          </a:p>
          <a:p>
            <a:r>
              <a:rPr sz="1200" b="1">
                <a:solidFill>
                  <a:srgbClr val="00D4AA"/>
                </a:solidFill>
              </a:rPr>
              <a:t>Qualidade:</a:t>
            </a:r>
            <a:r>
              <a:rPr sz="1200">
                <a:solidFill>
                  <a:srgbClr val="FFFFFF"/>
                </a:solidFill>
              </a:rPr>
              <a:t> 4/4 regras de detecção funcionais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Lições Aprendidas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Validar premissas técnicas cedo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Spikes de 1-2 dias nas primeiras semanas evitam surpresas tardias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Documentação contínua &gt; tardia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Artefatos de gestão em paralelo com desenvolvimento reduzem estresse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Comunicação assíncrona estruturada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Discord + GitHub Projects = alinhamento sem overhead de reuniões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12079"/>
            <a:ext cx="548640" cy="54864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Escopo realista &gt; ambicioso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Entregar 95% com qualidade supera 100% com defeitos ou atraso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Termo de Encerramento — Síntese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CONCLUÍDO com sucesso (95% do escopo entregue)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Desvio de Escopo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File integrity monitoring Windows → backlog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Desvio de Esforço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+20h Líder Técnico (compensado por entrega antecipada)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Handover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114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Repositório GitHub + Docker Compose + Documentação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Reprodutibilidade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029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docker-compose up → sistema completo em qualquer máquina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SENTINEL IDS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00D4AA"/>
                </a:solidFill>
              </a:defRPr>
            </a:pPr>
            <a:r>
              <a:t>Protegendo redes. Detectando ameaças.</a:t>
            </a:r>
          </a:p>
          <a:p>
            <a:pPr algn="ctr">
              <a:spcBef>
                <a:spcPts val="800"/>
              </a:spcBef>
              <a:defRPr sz="1800">
                <a:solidFill>
                  <a:srgbClr val="CCCCCC"/>
                </a:solidFill>
              </a:defRPr>
            </a:pPr>
            <a:r>
              <a:t>Open-source. Enterprise-grade. Custo zero.</a:t>
            </a:r>
          </a:p>
          <a:p>
            <a:pPr>
              <a:spcBef>
                <a:spcPts val="4000"/>
              </a:spcBef>
            </a:pPr>
          </a:p>
          <a:p>
            <a:pPr algn="ctr">
              <a:defRPr sz="1600">
                <a:solidFill>
                  <a:srgbClr val="FFC107"/>
                </a:solidFill>
              </a:defRPr>
            </a:pPr>
            <a:r>
              <a:t>Cristian Shaka Nken (GP) | Jess Saito Forster (Líder Técnico)</a:t>
            </a:r>
          </a:p>
          <a:p>
            <a:pPr>
              <a:spcBef>
                <a:spcPts val="1600"/>
              </a:spcBef>
            </a:pP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Gerência de Projetos em TI — CEUB</a:t>
            </a:r>
          </a:p>
          <a:p>
            <a:pPr algn="ctr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Professor Roberto Avila Paldês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